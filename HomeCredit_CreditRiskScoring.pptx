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Default rate per desil skor (D1 = 10% skor terendah)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B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E8E63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22.9</c:v>
                </c:pt>
                <c:pt idx="1">
                  <c:v>14.5</c:v>
                </c:pt>
                <c:pt idx="2">
                  <c:v>10.5</c:v>
                </c:pt>
                <c:pt idx="3">
                  <c:v>8.1</c:v>
                </c:pt>
                <c:pt idx="4">
                  <c:v>6.4</c:v>
                </c:pt>
                <c:pt idx="5">
                  <c:v>5.4</c:v>
                </c:pt>
                <c:pt idx="6">
                  <c:v>4.2</c:v>
                </c:pt>
                <c:pt idx="7">
                  <c:v>3.7</c:v>
                </c:pt>
                <c:pt idx="8">
                  <c:v>2.9</c:v>
                </c:pt>
                <c:pt idx="9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62B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Default rate menurut pemakaian limit kartu kredit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B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A2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0%</c:v>
                  </c:pt>
                  <c:pt idx="1">
                    <c:v>1-30%</c:v>
                  </c:pt>
                  <c:pt idx="2">
                    <c:v>30-60%</c:v>
                  </c:pt>
                  <c:pt idx="3">
                    <c:v>60-90%</c:v>
                  </c:pt>
                  <c:pt idx="4">
                    <c:v>&gt; 90%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6.4</c:v>
                </c:pt>
                <c:pt idx="2">
                  <c:v>8.9</c:v>
                </c:pt>
                <c:pt idx="3">
                  <c:v>13</c:v>
                </c:pt>
                <c:pt idx="4">
                  <c:v>19.3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62B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Default rate menurut jumlah pinjaman aktif di lembaga lain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B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A2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5.7</c:v>
                </c:pt>
                <c:pt idx="1">
                  <c:v>7.1</c:v>
                </c:pt>
                <c:pt idx="2">
                  <c:v>7.4</c:v>
                </c:pt>
                <c:pt idx="3">
                  <c:v>8.3</c:v>
                </c:pt>
                <c:pt idx="4">
                  <c:v>9.2</c:v>
                </c:pt>
                <c:pt idx="5">
                  <c:v>10.7</c:v>
                </c:pt>
                <c:pt idx="6">
                  <c:v>13.4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62B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PR-AUC validasi silang (makin tinggi makin baik)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B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Tebakan acak</c:v>
                  </c:pt>
                  <c:pt idx="1">
                    <c:v>Aturan skor eksternal</c:v>
                  </c:pt>
                  <c:pt idx="2">
                    <c:v>Random Forest</c:v>
                  </c:pt>
                  <c:pt idx="3">
                    <c:v>Logistic Regression</c:v>
                  </c:pt>
                  <c:pt idx="4">
                    <c:v>XGBoost</c:v>
                  </c:pt>
                  <c:pt idx="5">
                    <c:v>LightGBM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0.081</c:v>
                </c:pt>
                <c:pt idx="1">
                  <c:v>0.188</c:v>
                </c:pt>
                <c:pt idx="2">
                  <c:v>0.252</c:v>
                </c:pt>
                <c:pt idx="3">
                  <c:v>0.261</c:v>
                </c:pt>
                <c:pt idx="4">
                  <c:v>0.279</c:v>
                </c:pt>
                <c:pt idx="5">
                  <c:v>0.28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2262B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Faktor paling berpengaruh (SHAP)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B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Skor eksternal 3</c:v>
                  </c:pt>
                  <c:pt idx="1">
                    <c:v>Pinjaman / harga barang</c:v>
                  </c:pt>
                  <c:pt idx="2">
                    <c:v>Skor eksternal 2</c:v>
                  </c:pt>
                  <c:pt idx="3">
                    <c:v>Besar cicilan</c:v>
                  </c:pt>
                  <c:pt idx="4">
                    <c:v>Perkiraan tenor</c:v>
                  </c:pt>
                  <c:pt idx="5">
                    <c:v>Rata-rata skor eksternal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0.099</c:v>
                </c:pt>
                <c:pt idx="1">
                  <c:v>0.111</c:v>
                </c:pt>
                <c:pt idx="2">
                  <c:v>0.112</c:v>
                </c:pt>
                <c:pt idx="3">
                  <c:v>0.117</c:v>
                </c:pt>
                <c:pt idx="4">
                  <c:v>0.12</c:v>
                </c:pt>
                <c:pt idx="5">
                  <c:v>0.247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2262B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262B"/>
                </a:solidFill>
                <a:latin typeface="Poppins"/>
              </a:defRPr>
            </a:pPr>
            <a:r>
              <a:rPr sz="1500" b="0" i="0" u="none" strike="noStrike">
                <a:solidFill>
                  <a:srgbClr val="22262B"/>
                </a:solidFill>
                <a:latin typeface="Poppins"/>
              </a:rPr>
              <a:t>Total biaya per kebijakan (miliar, LGD 45%)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Kerugian gagal bayar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Tanpa model</c:v>
                  </c:pt>
                  <c:pt idx="1">
                    <c:v>F2 tertinggi</c:v>
                  </c:pt>
                  <c:pt idx="2">
                    <c:v>Terpilih 12%</c:v>
                  </c:pt>
                  <c:pt idx="3">
                    <c:v>Biaya min. 22%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1.24</c:v>
                </c:pt>
                <c:pt idx="1">
                  <c:v>0.44</c:v>
                </c:pt>
                <c:pt idx="2">
                  <c:v>0.57</c:v>
                </c:pt>
                <c:pt idx="3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Keuntungan hilang</c:v>
                </c:pt>
              </c:strCache>
            </c:strRef>
          </c:tx>
          <c:spPr>
            <a:solidFill>
              <a:srgbClr val="D9A23A"/>
            </a:solidFill>
            <a:effectLst/>
          </c:spPr>
          <c:invertIfNegative val="0"/>
          <c:dLbls>
            <c:numFmt formatCode="0.0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Tanpa model</c:v>
                  </c:pt>
                  <c:pt idx="1">
                    <c:v>F2 tertinggi</c:v>
                  </c:pt>
                  <c:pt idx="2">
                    <c:v>Terpilih 12%</c:v>
                  </c:pt>
                  <c:pt idx="3">
                    <c:v>Biaya min. 22%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1.01</c:v>
                </c:pt>
                <c:pt idx="2">
                  <c:v>0.67</c:v>
                </c:pt>
                <c:pt idx="3">
                  <c:v>0.2</c:v>
                </c:pt>
              </c:numCache>
            </c:numRef>
          </c:val>
        </c:ser>
        <c:dLbls>
          <c:numFmt formatCode="0.0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aoramaaulia-collab/home-credit-credit-risk" TargetMode="External"/><Relationship Id="rId6" Type="http://schemas.openxmlformats.org/officeDocument/2006/relationships/hyperlink" Target="https://home-credit-credit-risk-emvn4romwxnpwuyke5nquy.streamlit.app" TargetMode="External"/><Relationship Id="rId8" Type="http://schemas.openxmlformats.org/officeDocument/2006/relationships/hyperlink" Target="https://aoramaaulia-collab.github.io/home-credit-credit-risk" TargetMode="External"/><Relationship Id="rId10" Type="http://schemas.openxmlformats.org/officeDocument/2006/relationships/hyperlink" Target="https://medium.com/@aoramaaulia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image" Target="../media/image-10-4.png"/><Relationship Id="rId7" Type="http://schemas.openxmlformats.org/officeDocument/2006/relationships/image" Target="../media/image-10-5.png"/><Relationship Id="rId9" Type="http://schemas.openxmlformats.org/officeDocument/2006/relationships/image" Target="../media/image-10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indent="0" marL="0">
              <a:buNone/>
            </a:pPr>
            <a:r>
              <a:rPr lang="en-US" sz="1400" b="1" spc="100" kern="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INDONESIA  x  RAKAMIN ACADEMY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RISK</a:t>
            </a:r>
            <a:endParaRPr lang="en-US" sz="6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DARI PREDIKSI GAGAL BAYAR KE KEBIJAKAN KREDIT YANG TERUKUR DALAM UANG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Scientist Project Based Virtual Internship  |  Aorama Aulia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097280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14232" y="1097280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7464" y="1097280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0696" y="1097280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1097280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1810512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14232" y="1810512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7464" y="1810512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0696" y="1810512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53928" y="1810512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523744"/>
            <a:ext cx="603504" cy="6035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4232" y="2523744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27464" y="2523744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0696" y="2523744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53928" y="2523744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236976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14232" y="3236976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27464" y="3236976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0696" y="3236976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53928" y="3236976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950208"/>
            <a:ext cx="603504" cy="603504"/>
          </a:xfrm>
          <a:prstGeom prst="ellipse">
            <a:avLst/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14232" y="3950208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27464" y="3950208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0696" y="3950208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53928" y="3950208"/>
            <a:ext cx="603504" cy="603504"/>
          </a:xfrm>
          <a:prstGeom prst="ellipse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262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617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-53%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kerugian gagal bayar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26080" y="45262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27248" y="4617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4,4%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3127248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default rate disetujui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03520" y="45262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04688" y="4617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0,793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5504688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ROC-AUC data uji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 tahap kerja, dari memahami masalah sampai dampak dalam uang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5544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UNDERSTANDING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2148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11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Masalah gagal bayar 8,1%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Biaya salah setuju vs salah tolak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Metrik: F2 + PR curve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55848" y="20574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2A7B2"/>
          </a:solidFill>
          <a:ln w="12700">
            <a:solidFill>
              <a:srgbClr val="F2A7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24528" y="15544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7373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84448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ETL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584448" y="3429000"/>
            <a:ext cx="2148840" cy="0"/>
          </a:xfrm>
          <a:prstGeom prst="line">
            <a:avLst/>
          </a:prstGeom>
          <a:noFill/>
          <a:ln w="12700">
            <a:solidFill>
              <a:srgbClr val="22262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84448" y="3611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tabel, 307.511 pemohon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CSV ke Parquet ke BigQuery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mart 184 kolom (SQL)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63056" y="20574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31736" y="15544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7373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91656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&amp; INSIGHT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6391656" y="3429000"/>
            <a:ext cx="2148840" cy="0"/>
          </a:xfrm>
          <a:prstGeom prst="line">
            <a:avLst/>
          </a:prstGeom>
          <a:noFill/>
          <a:ln w="12700">
            <a:solidFill>
              <a:srgbClr val="2226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91656" y="3611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Profiling &amp; uji statistik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Skor eksternal pembeda utama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Sinyal terlilit utang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970264" y="20574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838944" y="155448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7373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98864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&amp; DAMPAK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9198864" y="3429000"/>
            <a:ext cx="2148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198864" y="3611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model, LightGBM terbaik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 3 zona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Kerugian dicegah 0,67 M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RESEARCH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 dari 12 pinjaman bermasalah, tetapi menolak nasabah baik juga merugikan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4251960"/>
          </a:xfrm>
          <a:prstGeom prst="roundRect">
            <a:avLst>
              <a:gd name="adj" fmla="val 285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8,1%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dari 307.511 pemohon historis kesulitan membayar cicilan (24.825 orang)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6,2 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34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perkiraan kerugian historis (pinjaman gagal bayar x 45% yang tidak kembali)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566928" cy="5669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6612" y="1833372"/>
            <a:ext cx="283464" cy="2834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32120" y="167335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BISNIS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207568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Membedakan pemohon yang mampu bayar dan yang berisiko sejak pengajuan, tanpa ikut menolak nasabah baik.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3154680"/>
            <a:ext cx="566928" cy="5669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3296412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32120" y="313639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YANG DIBANGUN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353872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probabilitas gagal bayar (PD) yang diterjemahkan menjadi tiga keputusan: Setujui, Tinjau ulang, Tolak.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54880" y="4617720"/>
            <a:ext cx="566928" cy="5669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475945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32120" y="45994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METRIK UTAMA: F2 + PR CURVE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532120" y="50017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sangat tidak seimbang (92:8) dan gagal bayar yang lolos 3,7-6,1 kali lebih mahal, jadi recall diberi bobot lebih besar.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Karena salah menolak juga ada harganya, keberhasilan model diukur dalam uang: kerugian yang dicegah dikurangi margin yang hilang.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Tujuh tabel riwayat kredit diringkas menjadi satu tabel per pemohon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tabel, 2,7 GB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07208" y="16459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PARQUET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8x lebih ringkas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65776" y="16459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BIGQUERY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gudang data cloud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24344" y="16459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15784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DATA MART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184 kolom / pemohon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90304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82912" y="16459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74352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142 fitur ke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090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Membersihkan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Kode aneh (lama kerja 365.243 hari) jadi "tidak bekerja"; riwayat kosong diberi tanda.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297680" y="29260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3090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Mencegah kebocoran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Kolom yang baru diketahui setelah pengajuan dibuang; data uji dipisah 20% sejak awal.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046720" y="29260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3090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Fitur baru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Rata-rata skor eksternal, cicilan/pendapatan, pinjaman/harga barang, tenor, beban utang lain.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73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Kosong &amp; ekstrem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3492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Isi median + penanda kosong; nilai ekstrem dipotong di persentil 1 dan 99.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297680" y="47091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26280" y="4873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074920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Kategori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53492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Sedikit kategori: kolom 0/1. Banyak kategori (pekerjaan, sektor): rata-rata risiko kelompok.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046720" y="470916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75320" y="4873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823960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Kolom dibuang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53492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Gender (keadilan), kolom duplikat (VIF tinggi), hampir konstan, dan 20 dokumen diringkas.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1: SKOR EKSTERNAL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Skor dari lembaga lain adalah pembeda risiko paling kuat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67912" cy="1828800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46%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514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seluruh gagal bayar berasal dari 20% pemohon berskor terendah (D1-D2)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9319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Gagal bayar D1 22,9%, hampir 3 kali rata-rata (8,1%); D10 hanya 2,0%. Risiko turun konsisten di setiap kenaikan desil.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REKOMENDASI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516636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D1-D2: verifikasi penghasilan + uang muka. D8-D10: jalur persetujuan cepat dan limit lebih tinggi.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Skor eksternal juga faktor nomor 1 di model (SHAP), sehingga verifikasinya adalah titik kontrol terpenting.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2: TERLILIT UTANG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 terlilit utang, makin tinggi risiko gagal bayarnya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440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99632" y="1554480"/>
          <a:ext cx="5440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21808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5321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3,6x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risiko pemakai limit &gt; 90%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3429000" y="5321808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66160" y="5321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2,4x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risiko 6+ pinjaman aktif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53218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Rekomendasi: </a:t>
            </a:r>
            <a:pPr indent="0" marL="0">
              <a:buNone/>
            </a:pPr>
            <a:r>
              <a:rPr lang="en-US" sz="13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sesuaikan limit dan tenor (zona Tinjau ulang), bukan langsung menolak.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Perilaku utang terbaru adalah sinyal kuat: risiko naik bertahap, sehingga cocok dikelola dengan limit, bukan penolakan.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 model diuji dengan pipeline yang sama; LightGBM paling baik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8521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600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52360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TUNING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52360" y="19476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Puluhan kombinasi parameter dicoba (RandomizedSearchCV), dipilih PR-AUC terbaik.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720840" y="2697480"/>
            <a:ext cx="548640" cy="548640"/>
          </a:xfrm>
          <a:prstGeom prst="ellipse">
            <a:avLst/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834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52360" y="2697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BOBOT KELAS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452360" y="30449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Diuji di semua model: tidak menaikkan PR-AUC dan probabilitas jadi kurang akurat. Tidak dipakai.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720840" y="3794760"/>
            <a:ext cx="548640" cy="548640"/>
          </a:xfrm>
          <a:prstGeom prst="ellipse">
            <a:avLst/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9319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52360" y="3794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SELEKSI FITUR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7452360" y="41422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Seleksi otomatis dan 5 fitur tambahan diuji: perubahan hanya 0,001-0,006. Model di batas informasi data.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720840" y="4892040"/>
            <a:ext cx="548640" cy="548640"/>
          </a:xfrm>
          <a:prstGeom prst="ellipse">
            <a:avLst/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50292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452360" y="4892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KEADILAN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7452360" y="52395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Gender tidak dipakai (POJK 22/2023); menambahkannya hanya +0,002.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LightGBM dan XGBoost hampir setara; LightGBM dipilih karena skornya tertinggi dan lebih cepat dilatih.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MODEL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 di data uji setara saat latihan: model tidak menghafal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0,288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PR-AUC (3,6x acak)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6642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0,793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ROC-AUC, Gini 0,586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63056" y="16002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6642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0,439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F2-score di batas 12%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70264" y="16002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16642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gagal bayar tertangkap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63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HASIL PADA 61.503 PEMOHON UJI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764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429000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350008" y="3429000"/>
            <a:ext cx="1764792" cy="676656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50008" y="3429000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Diprediksi lancar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51376" y="3429000"/>
            <a:ext cx="1764792" cy="676656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51376" y="3429000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Diprediksi gagal bayar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764792" cy="676656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142232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Aktual lancar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350008" y="4142232"/>
            <a:ext cx="1764792" cy="676656"/>
          </a:xfrm>
          <a:prstGeom prst="rect">
            <a:avLst/>
          </a:prstGeom>
          <a:solidFill>
            <a:srgbClr val="E9EC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50008" y="4142232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46.959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51376" y="4142232"/>
            <a:ext cx="1764792" cy="676656"/>
          </a:xfrm>
          <a:prstGeom prst="rect">
            <a:avLst/>
          </a:prstGeom>
          <a:solidFill>
            <a:srgbClr val="FCEB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51376" y="4142232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9.579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4855464"/>
            <a:ext cx="1764792" cy="676656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855464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Aktual gagal bayar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350008" y="4855464"/>
            <a:ext cx="1764792" cy="676656"/>
          </a:xfrm>
          <a:prstGeom prst="rect">
            <a:avLst/>
          </a:prstGeom>
          <a:solidFill>
            <a:srgbClr val="FCEB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50008" y="4855464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2.132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151376" y="4855464"/>
            <a:ext cx="1764792" cy="676656"/>
          </a:xfrm>
          <a:prstGeom prst="rect">
            <a:avLst/>
          </a:prstGeom>
          <a:solidFill>
            <a:srgbClr val="C81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51376" y="4855464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2.833</a:t>
            </a:r>
            <a:endParaRPr lang="en-US" sz="20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172200" y="3017520"/>
          <a:ext cx="5468112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Dari 4 pemohon yang tersaring, 1 benar-benar gagal bayar; karena itu sebagian besar ditinjau ulang, bukan langsung ditolak.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Kerugian turun lebih dari separuh; zona Tinjau ulang menjaga keuntungan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3093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600200"/>
            <a:ext cx="4553712" cy="914400"/>
          </a:xfrm>
          <a:prstGeom prst="roundRect">
            <a:avLst>
              <a:gd name="adj" fmla="val 12000"/>
            </a:avLst>
          </a:prstGeom>
          <a:solidFill>
            <a:srgbClr val="3E8E63"/>
          </a:solidFill>
          <a:ln w="12700">
            <a:solidFill>
              <a:srgbClr val="3E8E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96912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SETUJUI  PD &lt; 12%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 pemohon | gagal bayar 4,3%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86600" y="2624328"/>
            <a:ext cx="4553712" cy="914400"/>
          </a:xfrm>
          <a:prstGeom prst="roundRect">
            <a:avLst>
              <a:gd name="adj" fmla="val 12000"/>
            </a:avLst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96912" y="26243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TINJAU ULANG  12-22%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12% pemohon | gagal bayar 15,7%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86600" y="3648456"/>
            <a:ext cx="4553712" cy="9144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96912" y="364845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TOLAK  PD &gt;= 22%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8% pemohon | gagal bayar 33,6%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86600" y="4709160"/>
            <a:ext cx="4553712" cy="1188720"/>
          </a:xfrm>
          <a:prstGeom prst="roundRect">
            <a:avLst>
              <a:gd name="adj" fmla="val 9231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96912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0,67 M dicegah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pada 61.503 pemohon uji. Pada LGD 60-75%, hemat bersih 13-21%.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48640" y="594360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CEBEE"/>
          </a:solidFill>
          <a:ln w="12700">
            <a:solidFill>
              <a:srgbClr val="FCEBEE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7161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59436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 tertinggi menolak 13.808 nasabah baik sehingga biaya naik 17%; batas biaya minimum hanya menangkap 1 dari 3 gagal bayar.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REKOMENDASI &amp; REPOSITORY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Untuk bisnis, untuk model, dan di mana semua hasil bisa dilihat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</a:t>
            </a:r>
            <a:pPr algn="r"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REKOMENDASI BISNIS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Terapkan 3 zona 12% / 22%, tinjau tiap kuartal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Zona Tinjau ulang: limit 50%, tenor pendek, uang muka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Jalur cepat untuk D8-D10, PNS, pensiunan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Pantau default rate per zona tiap bulan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023360" y="160020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1783080"/>
            <a:ext cx="548640" cy="548640"/>
          </a:xfrm>
          <a:prstGeom prst="ellipse">
            <a:avLst/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3776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KETERBATASAN &amp; PENGEMBANGAN MODEL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256032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di batas informasi data: perlu data baru (SLIK, data alternatif)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Validasi berbasis waktu + monitoring PSI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 inference &amp; uji champion-challenger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terpisah untuk produk revolving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498080" y="1600200"/>
            <a:ext cx="4144975" cy="4206240"/>
          </a:xfrm>
          <a:prstGeom prst="roundRect">
            <a:avLst>
              <a:gd name="adj" fmla="val 264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2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1828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1400" dirty="0"/>
          </a:p>
        </p:txBody>
      </p:sp>
      <p:sp>
        <p:nvSpPr>
          <p:cNvPr id="18" name="Text 13">
            <a:hlinkClick r:id="rId4" tooltip=""/>
          </p:cNvPr>
          <p:cNvSpPr txBox="1"/>
          <p:nvPr/>
        </p:nvSpPr>
        <p:spPr>
          <a:xfrm>
            <a:off x="8321040" y="21579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aoramaaulia-collab/home-credit-credit-risk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89864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21040" y="28529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APLIKASI STREAMLIT</a:t>
            </a:r>
            <a:endParaRPr lang="en-US" sz="1400" dirty="0"/>
          </a:p>
        </p:txBody>
      </p:sp>
      <p:sp>
        <p:nvSpPr>
          <p:cNvPr id="21" name="Text 15">
            <a:hlinkClick r:id="rId6" tooltip=""/>
          </p:cNvPr>
          <p:cNvSpPr txBox="1"/>
          <p:nvPr/>
        </p:nvSpPr>
        <p:spPr>
          <a:xfrm>
            <a:off x="8321040" y="318211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Klik untuk membuka aplikasi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392277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321040" y="3877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24" name="Text 17">
            <a:hlinkClick r:id="rId8" tooltip=""/>
          </p:cNvPr>
          <p:cNvSpPr txBox="1"/>
          <p:nvPr/>
        </p:nvSpPr>
        <p:spPr>
          <a:xfrm>
            <a:off x="8321040" y="4206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aoramaaulia-collab.github.io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946904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21040" y="4901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ARTIKEL MEDIUM</a:t>
            </a:r>
            <a:endParaRPr lang="en-US" sz="1400" dirty="0"/>
          </a:p>
        </p:txBody>
      </p:sp>
      <p:sp>
        <p:nvSpPr>
          <p:cNvPr id="27" name="Text 19">
            <a:hlinkClick r:id="rId10" tooltip=""/>
          </p:cNvPr>
          <p:cNvSpPr txBox="1"/>
          <p:nvPr/>
        </p:nvSpPr>
        <p:spPr>
          <a:xfrm>
            <a:off x="8321040" y="5230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medium.com/@aoramaaulia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94360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Referensi: Laporan Keberlanjutan Home Credit Indonesia 2023; Basel IRB (LGD 45%); Saito &amp; Rehmsmeier 2015; Lundberg &amp; Lee 2017; POJK 22/2023.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18585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Scoring - Home Credit Indonesia</dc:title>
  <dc:subject>PptxGenJS Presentation</dc:subject>
  <dc:creator>PptxGenJS</dc:creator>
  <cp:lastModifiedBy>PptxGenJS</cp:lastModifiedBy>
  <cp:revision>1</cp:revision>
  <dcterms:created xsi:type="dcterms:W3CDTF">2026-10-15T00:12:20Z</dcterms:created>
  <dcterms:modified xsi:type="dcterms:W3CDTF">2026-10-15T00:12:20Z</dcterms:modified>
</cp:coreProperties>
</file>