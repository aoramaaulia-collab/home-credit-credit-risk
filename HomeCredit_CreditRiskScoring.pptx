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2B3036"/>
                </a:solidFill>
                <a:latin typeface="Calibri"/>
              </a:rPr>
              <a:t>Default rate per kelompok skor eksternal (D1 = 10% skor terendah)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97F-4F45-9F7B-22EE188A5FD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97F-4F45-9F7B-22EE188A5FDA}"/>
              </c:ext>
            </c:extLst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97F-4F45-9F7B-22EE188A5FDA}"/>
              </c:ext>
            </c:extLst>
          </c:dPt>
          <c:dPt>
            <c:idx val="3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97F-4F45-9F7B-22EE188A5FDA}"/>
              </c:ext>
            </c:extLst>
          </c:dPt>
          <c:dPt>
            <c:idx val="4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97F-4F45-9F7B-22EE188A5FDA}"/>
              </c:ext>
            </c:extLst>
          </c:dPt>
          <c:dPt>
            <c:idx val="5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997F-4F45-9F7B-22EE188A5FDA}"/>
              </c:ext>
            </c:extLst>
          </c:dPt>
          <c:dPt>
            <c:idx val="6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997F-4F45-9F7B-22EE188A5FDA}"/>
              </c:ext>
            </c:extLst>
          </c:dPt>
          <c:dPt>
            <c:idx val="7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997F-4F45-9F7B-22EE188A5FDA}"/>
              </c:ext>
            </c:extLst>
          </c:dPt>
          <c:dPt>
            <c:idx val="8"/>
            <c:invertIfNegative val="0"/>
            <c:bubble3D val="0"/>
            <c:spPr>
              <a:solidFill>
                <a:srgbClr val="C9CED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997F-4F45-9F7B-22EE188A5FDA}"/>
              </c:ext>
            </c:extLst>
          </c:dPt>
          <c:dPt>
            <c:idx val="9"/>
            <c:invertIfNegative val="0"/>
            <c:bubble3D val="0"/>
            <c:spPr>
              <a:solidFill>
                <a:srgbClr val="3E8E6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997F-4F45-9F7B-22EE188A5FD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B3036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22.9</c:v>
                </c:pt>
                <c:pt idx="1">
                  <c:v>14.5</c:v>
                </c:pt>
                <c:pt idx="2">
                  <c:v>10.5</c:v>
                </c:pt>
                <c:pt idx="3">
                  <c:v>8.1</c:v>
                </c:pt>
                <c:pt idx="4">
                  <c:v>6.4</c:v>
                </c:pt>
                <c:pt idx="5">
                  <c:v>5.4</c:v>
                </c:pt>
                <c:pt idx="6">
                  <c:v>4.2</c:v>
                </c:pt>
                <c:pt idx="7">
                  <c:v>3.7</c:v>
                </c:pt>
                <c:pt idx="8">
                  <c:v>2.9</c:v>
                </c:pt>
                <c:pt idx="9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997F-4F45-9F7B-22EE188A5F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2B3036"/>
                </a:solidFill>
                <a:latin typeface="Calibri"/>
              </a:rPr>
              <a:t>Default rate menurut pemakaian limit kartu kredit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268-4DFA-BFD9-6660D1F973A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268-4DFA-BFD9-6660D1F973A4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268-4DFA-BFD9-6660D1F973A4}"/>
              </c:ext>
            </c:extLst>
          </c:dPt>
          <c:dPt>
            <c:idx val="3"/>
            <c:invertIfNegative val="0"/>
            <c:bubble3D val="0"/>
            <c:spPr>
              <a:solidFill>
                <a:srgbClr val="D9A2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268-4DFA-BFD9-6660D1F973A4}"/>
              </c:ext>
            </c:extLst>
          </c:dPt>
          <c:dPt>
            <c:idx val="4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268-4DFA-BFD9-6660D1F973A4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B3036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0%</c:v>
                </c:pt>
                <c:pt idx="1">
                  <c:v>1-30%</c:v>
                </c:pt>
                <c:pt idx="2">
                  <c:v>30-60%</c:v>
                </c:pt>
                <c:pt idx="3">
                  <c:v>60-90%</c:v>
                </c:pt>
                <c:pt idx="4">
                  <c:v>&gt; 90%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6.4</c:v>
                </c:pt>
                <c:pt idx="2">
                  <c:v>8.9</c:v>
                </c:pt>
                <c:pt idx="3">
                  <c:v>13</c:v>
                </c:pt>
                <c:pt idx="4">
                  <c:v>19.3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268-4DFA-BFD9-6660D1F973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2B3036"/>
                </a:solidFill>
                <a:latin typeface="Calibri"/>
              </a:rPr>
              <a:t>Default rate menurut jumlah pinjaman aktif di lembaga lain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DE5-4A6B-A9B8-951DA137378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0DE5-4A6B-A9B8-951DA137378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0DE5-4A6B-A9B8-951DA137378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0DE5-4A6B-A9B8-951DA137378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0DE5-4A6B-A9B8-951DA1373787}"/>
              </c:ext>
            </c:extLst>
          </c:dPt>
          <c:dPt>
            <c:idx val="5"/>
            <c:invertIfNegative val="0"/>
            <c:bubble3D val="0"/>
            <c:spPr>
              <a:solidFill>
                <a:srgbClr val="D9A2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DE5-4A6B-A9B8-951DA1373787}"/>
              </c:ext>
            </c:extLst>
          </c:dPt>
          <c:dPt>
            <c:idx val="6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DE5-4A6B-A9B8-951DA1373787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B3036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5.7</c:v>
                </c:pt>
                <c:pt idx="1">
                  <c:v>7.1</c:v>
                </c:pt>
                <c:pt idx="2">
                  <c:v>7.4</c:v>
                </c:pt>
                <c:pt idx="3">
                  <c:v>8.3000000000000007</c:v>
                </c:pt>
                <c:pt idx="4">
                  <c:v>9.1999999999999993</c:v>
                </c:pt>
                <c:pt idx="5">
                  <c:v>10.7</c:v>
                </c:pt>
                <c:pt idx="6">
                  <c:v>13.4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0DE5-4A6B-A9B8-951DA137378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2B3036"/>
                </a:solidFill>
                <a:latin typeface="Calibri"/>
              </a:rPr>
              <a:t>PR-AUC hasil validasi silang (tebakan acak = 0,081)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PR-AUC (CV)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2C-4343-B0EB-46554A044DD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B32C-4343-B0EB-46554A044DD0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B32C-4343-B0EB-46554A044DD0}"/>
              </c:ext>
            </c:extLst>
          </c:dPt>
          <c:dPt>
            <c:idx val="3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32C-4343-B0EB-46554A044DD0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B3036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  <c:pt idx="3">
                  <c:v>LightGBM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0.2626</c:v>
                </c:pt>
                <c:pt idx="1">
                  <c:v>0.254</c:v>
                </c:pt>
                <c:pt idx="2">
                  <c:v>0.28139999999999998</c:v>
                </c:pt>
                <c:pt idx="3">
                  <c:v>0.28170000000000001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32C-4343-B0EB-46554A044D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3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FFFFFF"/>
                </a:solidFill>
                <a:latin typeface="Calibri"/>
              </a:rPr>
              <a:t>Faktor yang paling memengaruhi skor (SHAP)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8C96A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BE-4536-B9FF-C3E3E0CE935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2BE-4536-B9FF-C3E3E0CE935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2BE-4536-B9FF-C3E3E0CE935E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2BE-4536-B9FF-C3E3E0CE935E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2BE-4536-B9FF-C3E3E0CE935E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2BE-4536-B9FF-C3E3E0CE935E}"/>
              </c:ext>
            </c:extLst>
          </c:dPt>
          <c:dPt>
            <c:idx val="6"/>
            <c:invertIfNegative val="0"/>
            <c:bubble3D val="0"/>
            <c:spPr>
              <a:solidFill>
                <a:srgbClr val="F06A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2BE-4536-B9FF-C3E3E0CE935E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D5D9D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Lama riwayat kredit barang</c:v>
                </c:pt>
                <c:pt idx="1">
                  <c:v>Skor eksternal 3</c:v>
                </c:pt>
                <c:pt idx="2">
                  <c:v>Pinjaman / harga barang</c:v>
                </c:pt>
                <c:pt idx="3">
                  <c:v>Skor eksternal 2</c:v>
                </c:pt>
                <c:pt idx="4">
                  <c:v>Besar cicilan</c:v>
                </c:pt>
                <c:pt idx="5">
                  <c:v>Perkiraan tenor</c:v>
                </c:pt>
                <c:pt idx="6">
                  <c:v>Rata-rata skor eksternal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9.6000000000000002E-2</c:v>
                </c:pt>
                <c:pt idx="1">
                  <c:v>9.9000000000000005E-2</c:v>
                </c:pt>
                <c:pt idx="2">
                  <c:v>0.111</c:v>
                </c:pt>
                <c:pt idx="3">
                  <c:v>0.112</c:v>
                </c:pt>
                <c:pt idx="4">
                  <c:v>0.11700000000000001</c:v>
                </c:pt>
                <c:pt idx="5">
                  <c:v>0.12</c:v>
                </c:pt>
                <c:pt idx="6">
                  <c:v>0.247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2BE-4536-B9FF-C3E3E0CE935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D5D9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lang="en-ID" sz="1600" b="0" i="0" u="none" strike="noStrike">
                <a:solidFill>
                  <a:srgbClr val="2B3036"/>
                </a:solidFill>
                <a:latin typeface="Calibri"/>
              </a:rPr>
              <a:t>Total biaya per kebijakan (miliar, data uji, LGD 45%)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Kerugian gagal bayar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Tanpa model</c:v>
                </c:pt>
                <c:pt idx="1">
                  <c:v>F2 tertinggi</c:v>
                </c:pt>
                <c:pt idx="2">
                  <c:v>Terpilih 12%</c:v>
                </c:pt>
                <c:pt idx="3">
                  <c:v>Biaya min. 22%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1.24</c:v>
                </c:pt>
                <c:pt idx="1">
                  <c:v>0.44</c:v>
                </c:pt>
                <c:pt idx="2">
                  <c:v>0.56999999999999995</c:v>
                </c:pt>
                <c:pt idx="3">
                  <c:v>0.87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91-464C-A12A-2CC1171C27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Keuntungan hilang</c:v>
                </c:pt>
              </c:strCache>
            </c:strRef>
          </c:tx>
          <c:spPr>
            <a:solidFill>
              <a:srgbClr val="D9A23A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Tanpa model</c:v>
                </c:pt>
                <c:pt idx="1">
                  <c:v>F2 tertinggi</c:v>
                </c:pt>
                <c:pt idx="2">
                  <c:v>Terpilih 12%</c:v>
                </c:pt>
                <c:pt idx="3">
                  <c:v>Biaya min. 22%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1.01</c:v>
                </c:pt>
                <c:pt idx="2">
                  <c:v>0.67</c:v>
                </c:pt>
                <c:pt idx="3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91-464C-A12A-2CC1171C270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1554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NAME/home-credit-credit-ris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NAME/home-credit-credit-ris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oramaaulia-collab/home-credit-credit-risk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06A78"/>
                </a:solidFill>
              </a:rPr>
              <a:t>HOME CREDIT INDONESIA  x  RAKAMIN ACADEMY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Risk Scoring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D5D9DE"/>
                </a:solidFill>
              </a:rPr>
              <a:t>Memprediksi risiko gagal bayar pemohon kredit, lalu mengubahnya menjadi kebijakan persetujuan yang dampaknya terukur dalam uang.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0A6AD"/>
                </a:solidFill>
              </a:rPr>
              <a:t>Data Scientist Project Based Virtual Internship  |  Nama Peserta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0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-53%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kerugian akibat gagal bayar (expected loss) turun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0896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default rate pinjaman yang disetujui, sebelumnya 8,1%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pengajuan tetap disetujui, bisnis tetap tumbuh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595360" y="822960"/>
            <a:ext cx="3017520" cy="3017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8229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0,793</a:t>
            </a:r>
            <a:endParaRPr lang="en-US" sz="4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ROC-AUC di data test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069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5D9DE"/>
                </a:solidFill>
              </a:rPr>
              <a:t>Model: LightGBM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D5D9DE"/>
                </a:solidFill>
              </a:rPr>
              <a:t>F2-score 0,439  |  PR-AUC 0,288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D5D9DE"/>
                </a:solidFill>
              </a:rPr>
              <a:t>(3,6x lebih baik dari tebakan acak)</a:t>
            </a:r>
            <a:endParaRPr lang="en-US" sz="1600" dirty="0"/>
          </a:p>
        </p:txBody>
      </p:sp>
      <p:sp>
        <p:nvSpPr>
          <p:cNvPr id="18" name="Text 16">
            <a:hlinkClick r:id="rId3"/>
          </p:cNvPr>
          <p:cNvSpPr txBox="1"/>
          <p:nvPr/>
        </p:nvSpPr>
        <p:spPr>
          <a:xfrm>
            <a:off x="8138160" y="5577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PROBLEM RESEARCH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dari 12 pinjaman bermasalah, tetapi menolak nasabah baik juga merugikan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749040" cy="4754880"/>
          </a:xfrm>
          <a:prstGeom prst="roundRect">
            <a:avLst>
              <a:gd name="adj" fmla="val 1951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37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40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B3036"/>
                </a:solidFill>
              </a:rPr>
              <a:t>dari 307.511 pemohon mengalami kesulitan membayar cicilan (24.825 orang)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6,2 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8039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B3036"/>
                </a:solidFill>
              </a:rPr>
              <a:t>perkiraan kerugian dari pinjaman yang gagal bayar (asumsi 45% pinjaman tidak kembali)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006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Kerugian dari satu nasabah gagal bayar yang lolos 3,7-6,1 kali lebih besar daripada keuntungan yang hilang saat menolak satu nasabah baik.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17720" y="157276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15544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Tujuan bisnis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938528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Membantu tim kredit membedakan pemohon yang mampu membayar dan yang berisiko sejak tahap pengajuan, sehingga nasabah baik tidak ikut ditolak.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17720" y="2779776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76148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Yang dibangun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3145536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Model yang menghitung probabilitas gagal bayar (PD) setiap pemohon, lalu diterjemahkan menjadi tiga keputusan: Setujui, Tinjau ulang, atau Tolak.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17720" y="398678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1772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968496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Metrik utama: F2 dan PR curve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4352544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Data sangat tidak seimbang (92% lancar, 8% gagal bayar) dan gagal bayar yang lolos jauh lebih mahal, jadi kemampuan menangkap gagal bayar (recall) diberi bobot lebih besar.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17720" y="5193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166360" y="517550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Metrik bisnis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555955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Expected loss (kerugian dari gagal bayar yang disetujui), keuntungan yang hilang dari nasabah baik yang ditolak, dan default rate pinjaman yang disetujui.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DATASET &amp; DATA PIPELINE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Tujuh tabel riwayat kredit diringkas menjadi satu tabel analisis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307.511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pemohon dengan label lancar / gagal bayar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55848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tabel sumber: aplikasi + riwayat kredit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63056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kolom informasi per pemohon setelah diringkas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70264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: 8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perbandingan nasabah lancar dan gagal bayar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B3036"/>
                </a:solidFill>
              </a:rPr>
              <a:t>CSV mentah</a:t>
            </a:r>
            <a:endParaRPr lang="en-US" sz="17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3036"/>
                </a:solidFill>
              </a:rPr>
              <a:t>2,7 GB data asli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2816352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07792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B3036"/>
                </a:solidFill>
              </a:rPr>
              <a:t>Parquet</a:t>
            </a:r>
            <a:endParaRPr lang="en-US" sz="17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3036"/>
                </a:solidFill>
              </a:rPr>
              <a:t>format ringkas, 8x lebih kecil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36592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084064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75504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B3036"/>
                </a:solidFill>
              </a:rPr>
              <a:t>BigQuery</a:t>
            </a:r>
            <a:endParaRPr lang="en-US" sz="17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3036"/>
                </a:solidFill>
              </a:rPr>
              <a:t>gudang data di cloud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004304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351776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43216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SQL data mart</a:t>
            </a:r>
            <a:endParaRPr lang="en-US" sz="17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riwayat diringkas per pemohon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72016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619488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10928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B3036"/>
                </a:solidFill>
              </a:rPr>
              <a:t>Python</a:t>
            </a:r>
            <a:endParaRPr lang="en-US" sz="17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3036"/>
                </a:solidFill>
              </a:rPr>
              <a:t>analisis &amp; model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834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Apa isi riwayatnya: </a:t>
            </a:r>
            <a:r>
              <a:rPr lang="en-US" sz="1600" dirty="0">
                <a:solidFill>
                  <a:srgbClr val="6B7280"/>
                </a:solidFill>
              </a:rPr>
              <a:t>pinjaman di lembaga lain (bureau), pengajuan sebelumnya di Home Credit, catatan pembayaran cicilan, pinjaman barang (POS), dan kartu kredit.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Kenapa diringkas dengan SQL: </a:t>
            </a:r>
            <a:r>
              <a:rPr lang="en-US" sz="1600" dirty="0">
                <a:solidFill>
                  <a:srgbClr val="6B7280"/>
                </a:solidFill>
              </a:rPr>
              <a:t>jutaan baris riwayat diubah menjadi indikator perilaku, misalnya persentase cicilan yang telat dalam 12 bulan terakhir, pemakaian limit kartu, dan total utang aktif.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DATA PREPROCESSING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alur pengolahan data yang sama untuk notebook, aplikasi, dan pemohon baru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Membersihkan data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Kode aneh seperti lama kerja 365.243 hari diubah menjadi "tidak bekerja"; riwayat yang kosong diberi tanda "belum punya riwayat".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Mencegah kebocoran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Kolom yang baru diketahui setelah pengajuan dibuang. Data dibagi 80% latih dan 20% uji sebelum model belajar apa pun.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Membuat fitur baru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Rata-rata skor eksternal, cicilan dibanding pendapatan, pinjaman dibanding harga barang, perkiraan tenor, dan beban utang di lembaga lain.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Data kosong &amp; ekstrem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Nilai kosong diisi median dan diberi penanda; nilai yang terlalu ekstrem dipotong di batas 1% dan 99% agar tidak mendistorsi model.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29768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Mengubah kategori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Kategori sedikit (misal jenis kontrak) dibuat kolom 0/1; kategori banyak (pekerjaan, sektor) diubah menjadi rata-rata risiko kelompoknya.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04672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2396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Memilih fitur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Fitur yang sama artinya atau tidak relevan dibuang. Seleksi otomatis juga diuji, tetapi justru menurunkan performa, jadi tidak dipakai.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INSIGHT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dari lembaga lain adalah pembeda risiko yang paling kuat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508760"/>
          <a:ext cx="676656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97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7280"/>
                </a:solidFill>
              </a:rPr>
              <a:t>Cara baca: makin rendah skornya (ke kiri), makin tinggi persentase gagal bayarnya. Rata-rata seluruh pemohon 8,1%.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589520" y="1508760"/>
            <a:ext cx="4050792" cy="1874520"/>
          </a:xfrm>
          <a:prstGeom prst="roundRect">
            <a:avLst>
              <a:gd name="adj" fmla="val 3902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6459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4942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B3036"/>
                </a:solidFill>
              </a:rPr>
              <a:t>dari seluruh gagal bayar berasal dari 20% pemohon berskor terendah (D1 dan D2)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6118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B3036"/>
                </a:solidFill>
              </a:rPr>
              <a:t>Aksi bisnis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4069080"/>
            <a:ext cx="4050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D1-D2: tetap dilayani, tetapi dengan verifikasi penghasilan tambahan dan uang muka wajib.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D8-D10 (gagal bayar di bawah 4%): jalur persetujuan cepat dan tawaran limit lebih tinggi.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Skor eksternal juga menjadi faktor nomor 1 dalam model.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INSIGHT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 terlilit utang, makin tinggi risiko gagal bayarnya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508760"/>
          <a:ext cx="544068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199632" y="1508760"/>
          <a:ext cx="544068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34924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8102E"/>
                </a:solidFill>
              </a:rPr>
              <a:t>Temuan: </a:t>
            </a:r>
            <a:r>
              <a:rPr lang="en-US" sz="1600" dirty="0">
                <a:solidFill>
                  <a:srgbClr val="2B3036"/>
                </a:solidFill>
              </a:rPr>
              <a:t>pemohon yang memakai lebih dari 90% limit kartunya berisiko 3,6 kali lipat, dan yang punya 6 pinjaman aktif atau lebih berisiko 2,4 kali lipat dibanding yang tidak punya.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8102E"/>
                </a:solidFill>
              </a:rPr>
              <a:t>Aksi: </a:t>
            </a:r>
            <a:r>
              <a:rPr lang="en-US" sz="1600" dirty="0">
                <a:solidFill>
                  <a:srgbClr val="2B3036"/>
                </a:solidFill>
              </a:rPr>
              <a:t>kurangi limit atau perpendek tenor untuk mereka (zona Tinjau ulang), bukan langsung menolak.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MODEL APPROACH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model diuji dengan cara yang sama; LightGBM paling baik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508760"/>
          <a:ext cx="54864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349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LightGBM dan XGBoost hampir sama kuat. LightGBM dipilih karena skornya tertinggi dan lebih cepat dilatih. Menggabungkan model (ensemble) hanya naik 0,0004, jadi tidak sepadan dengan kerumitannya.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0" y="1508760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1490472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Penyetelan parameter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892808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Ratusan kombinasi dicoba secara acak dan dipilih yang PR-AUC-nya terbaik, termasuk cara pengolahan datanya.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0" y="2752344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2734056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Bobot kelas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3136392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Memberi bobot lebih ke gagal bayar tidak menaikkan performa dan membuat probabilitas kurang akurat, jadi tidak dipakai.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399592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397764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Batas keputusan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379976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Dipilih F2 tertinggi yang total biayanya tidak lebih buruk dari tanpa model: 12%. Batas tolak 22% (biaya minimum).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00800" y="5239512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5221224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036"/>
                </a:solidFill>
              </a:rPr>
              <a:t>Adil &amp; tanpa diskriminasi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5623560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Gender tidak dipakai sesuai POJK 22/2023; menambahkannya hanya menaikkan PR-AUC 0,002.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FINAL MODEL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 di data uji setara saat latihan: model tidak menghafal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0,288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PR-AUC data uji (latihan 0,280)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55848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0,793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ROC-AUC, Gini 0,586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63056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0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0,439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F2-score pada batas 12%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70264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5D9DE"/>
                </a:solidFill>
              </a:rPr>
              <a:t>gagal bayar berhasil tertangkap (recall)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29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Hasil prediksi pada 61.503 pemohon data uji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1737360" cy="676656"/>
          </a:xfrm>
          <a:prstGeom prst="rect">
            <a:avLst/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331720" y="3840480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Diprediksi lancar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0" y="3840480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Diprediksi gagal bayar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Aktual lancar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4553712"/>
            <a:ext cx="1737360" cy="676656"/>
          </a:xfrm>
          <a:prstGeom prst="rect">
            <a:avLst/>
          </a:prstGeom>
          <a:solidFill>
            <a:srgbClr val="3A4149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33172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46.959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0" y="4553712"/>
            <a:ext cx="1737360" cy="676656"/>
          </a:xfrm>
          <a:prstGeom prst="rect">
            <a:avLst/>
          </a:prstGeom>
          <a:solidFill>
            <a:srgbClr val="6E3A40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1480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9.579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266944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Aktual gagal bayar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331720" y="5266944"/>
            <a:ext cx="1737360" cy="676656"/>
          </a:xfrm>
          <a:prstGeom prst="rect">
            <a:avLst/>
          </a:prstGeom>
          <a:solidFill>
            <a:srgbClr val="6E3A40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3172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2.132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114800" y="5266944"/>
            <a:ext cx="1737360" cy="676656"/>
          </a:xfrm>
          <a:prstGeom prst="rect">
            <a:avLst/>
          </a:prstGeom>
          <a:solidFill>
            <a:srgbClr val="C8102E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11480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2.833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035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5D9DE"/>
                </a:solidFill>
              </a:rPr>
              <a:t>2.833 calon gagal bayar tertolak dengan benar; 2.132 masih lolos. 9.579 nasabah baik ikut tersaring, sebagian besar masuk zona Tinjau ulang, bukan ditolak.</a:t>
            </a:r>
            <a:endParaRPr lang="en-US" sz="130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172200" y="3383280"/>
          <a:ext cx="546811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8" name="Text 3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0A6AD"/>
                </a:solidFill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Kerugian turun lebih dari separuh, zona Tinjau ulang menjaga keuntungan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508760"/>
          <a:ext cx="630936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4068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Batas F2 tertinggi menolak 13.808 nasabah baik sehingga total biaya naik 17%. Batas biaya minimum hanya menangkap 1 dari 3 gagal bayar. Karena itu keduanya dipakai sebagai batas zona.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086600" y="1508760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3E8E63"/>
          </a:solidFill>
          <a:ln w="12700">
            <a:solidFill>
              <a:srgbClr val="3E8E6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508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SETUJUI  |  PD di bawah 12%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80% pemohon, gagal bayar 4,3%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086600" y="2624328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D9A23A"/>
          </a:solidFill>
          <a:ln w="12700">
            <a:solidFill>
              <a:srgbClr val="D9A2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69480" y="2624328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TINJAU ULANG  |  PD 12-22%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12% pemohon, gagal bayar 15,7%: limit dikurangi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086600" y="3739896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69480" y="3739896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TOLAK  |  PD 22% ke atas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8% pemohon, gagal bayar 33,6%: menangkap 33% gagal bayar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086600" y="4937760"/>
            <a:ext cx="4553712" cy="1554480"/>
          </a:xfrm>
          <a:prstGeom prst="roundRect">
            <a:avLst>
              <a:gd name="adj" fmla="val 4706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69480" y="49377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102E"/>
                </a:solidFill>
              </a:rPr>
              <a:t>0,67 M kerugian dicegah</a:t>
            </a:r>
            <a:endParaRPr lang="en-US" sz="2200" dirty="0"/>
          </a:p>
          <a:p>
            <a:pPr marL="0" indent="0">
              <a:buNone/>
            </a:pPr>
            <a:r>
              <a:rPr lang="en-US" sz="1400" dirty="0">
                <a:solidFill>
                  <a:srgbClr val="2B3036"/>
                </a:solidFill>
              </a:rPr>
              <a:t>pada 61.503 pemohon uji (sekitar 3,3 M untuk seluruh 307 ribu pemohon). Jika 60-75% pinjaman macet tidak kembali, hemat bersih 13-21%.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102E"/>
                </a:solidFill>
              </a:rPr>
              <a:t>RECOMMENDATION &amp; REPOSITORY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model menjadi keputusan kredit sehari-hari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733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Pakai skor sebagai filter awal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Terapkan tiga zona (12% / 22%) di sistem pengajuan dan tinjau ulang batasnya setiap kuartal dengan data terbaru.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764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6733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Kelola risiko, jangan langsung tolak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Pemohon zona Tinjau ulang diberi limit 50%, tenor lebih pendek, atau uang muka, sehingga keuntungan tetap didapat.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2793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879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Prioritaskan segmen yang aman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92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Pemohon berskor tinggi (D8-D10), PNS, dan pensiunan mendapat jalur cepat, misalnya lewat kerja sama payroll.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51960" y="40233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42793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41879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Pantau model secara rutin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4892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Cek stabilitas data dan default rate per zona setiap bulan; latih ulang model setelah label 12 bulan tersedia.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15087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6A78"/>
                </a:solidFill>
              </a:rPr>
              <a:t>GitHub (notebook &amp; kode)</a:t>
            </a:r>
            <a:endParaRPr lang="en-US" sz="1600" dirty="0"/>
          </a:p>
        </p:txBody>
      </p:sp>
      <p:sp>
        <p:nvSpPr>
          <p:cNvPr id="26" name="Text 24">
            <a:hlinkClick r:id="rId3"/>
          </p:cNvPr>
          <p:cNvSpPr txBox="1"/>
          <p:nvPr/>
        </p:nvSpPr>
        <p:spPr>
          <a:xfrm>
            <a:off x="8165592" y="18562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u="sng" dirty="0">
                <a:solidFill>
                  <a:srgbClr val="FFFFFF"/>
                </a:solidFill>
                <a:hlinkClick r:id="rId4"/>
              </a:rPr>
              <a:t>https://github.com/aoramaaulia-collab/home-credit-credit-risk.git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65592" y="235915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6A78"/>
                </a:solidFill>
              </a:rPr>
              <a:t>Dashboard Power BI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65592" y="270662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folder powerbi/ di repository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2062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6A78"/>
                </a:solidFill>
              </a:rPr>
              <a:t>Referensi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572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Laporan Keberlanjutan Home Credit Indonesia 2023 (margin 13,6%)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Basel Committee: Expected Loss = PD x LGD x EAD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Saito &amp; Rehmsmeier (2015), PR curve untuk data tidak seimbang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POJK 22/2023 tentang Pelindungan Konsumen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0A6AD"/>
                </a:solidFill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1399</Words>
  <Application>Microsoft Office PowerPoint</Application>
  <PresentationFormat>Widescreen</PresentationFormat>
  <Paragraphs>196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Scoring - Home Credit Indonesia</dc:title>
  <dc:subject>PptxGenJS Presentation</dc:subject>
  <dc:creator>PptxGenJS</dc:creator>
  <cp:lastModifiedBy>aoramaaulia@outlook.com</cp:lastModifiedBy>
  <cp:revision>3</cp:revision>
  <dcterms:created xsi:type="dcterms:W3CDTF">2026-10-10T08:50:42Z</dcterms:created>
  <dcterms:modified xsi:type="dcterms:W3CDTF">2026-10-12T03:12:17Z</dcterms:modified>
</cp:coreProperties>
</file>